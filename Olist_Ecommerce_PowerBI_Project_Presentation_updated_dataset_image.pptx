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Power BI Dashboard Project</a:t>
            </a:r>
          </a:p>
          <a:p>
            <a:pPr>
              <a:defRPr sz="1500">
                <a:solidFill>
                  <a:srgbClr val="D2E1DE"/>
                </a:solidFill>
                <a:latin typeface="Aptos"/>
              </a:defRPr>
            </a:pPr>
            <a:r>
              <a:t>Sales • Customers • Payments • Delivery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DCA"/>
                </a:solidFill>
                <a:latin typeface="Aptos"/>
              </a:defRPr>
            </a:pPr>
            <a:r>
              <a:t>Presented using Power BI | Brazilian E-Commerce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9E6DA"/>
                </a:solidFill>
                <a:latin typeface="Aptos"/>
              </a:defRPr>
            </a:pPr>
            <a:r>
              <a:t>Dataset Source: Kaggle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Power BI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9202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075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Analyze Brazilian e-commerce sales and operations using the Olist public dataset.</a:t>
            </a:r>
            <a:br/>
            <a:br/>
            <a:r>
              <a:t>The dashboard converts raw transactional data into clear business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920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07592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Technology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9928"/>
            <a:ext cx="49834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Power BI Desktop</a:t>
            </a:r>
            <a:br/>
            <a:r>
              <a:t>Power Query for data cleaning and transformation</a:t>
            </a:r>
            <a:br/>
            <a:r>
              <a:t>DAX for calculated measures</a:t>
            </a:r>
            <a:br/>
            <a:r>
              <a:t>Interactive dashboard visuals and slicers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73152" cy="192024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5021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Business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04487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Sales performance</a:t>
            </a:r>
            <a:br/>
            <a:r>
              <a:t>Customer behavior</a:t>
            </a:r>
            <a:br/>
            <a:r>
              <a:t>Payment patterns</a:t>
            </a:r>
            <a:br/>
            <a:r>
              <a:t>Delivery performance</a:t>
            </a:r>
            <a:br/>
            <a:r>
              <a:t>Regional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02152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Final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904487"/>
            <a:ext cx="49834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3 report pages:</a:t>
            </a:r>
            <a:br/>
            <a:r>
              <a:t>1. Executive Overview</a:t>
            </a:r>
            <a:br/>
            <a:r>
              <a:t>2. Sales Analysis</a:t>
            </a:r>
            <a:br/>
            <a:r>
              <a:t>3. Delivery &amp; Operations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Olist Public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466344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37"/>
                </a:solidFill>
                <a:latin typeface="Aptos"/>
              </a:defRPr>
            </a:pPr>
            <a:r>
              <a:t>• Brazilian E-Commerce Public Dataset by Olist</a:t>
            </a:r>
          </a:p>
          <a:p>
            <a:pPr>
              <a:spcAft>
                <a:spcPts val="1000"/>
              </a:spcAft>
              <a:defRPr sz="1600">
                <a:solidFill>
                  <a:srgbClr val="233037"/>
                </a:solidFill>
                <a:latin typeface="Aptos"/>
              </a:defRPr>
            </a:pPr>
            <a:r>
              <a:t>• 9 related CSV tables covering orders, customers, products, sellers, payments and reviews</a:t>
            </a:r>
          </a:p>
          <a:p>
            <a:pPr>
              <a:spcAft>
                <a:spcPts val="1000"/>
              </a:spcAft>
              <a:defRPr sz="1600">
                <a:solidFill>
                  <a:srgbClr val="233037"/>
                </a:solidFill>
                <a:latin typeface="Aptos"/>
              </a:defRPr>
            </a:pPr>
            <a:r>
              <a:t>• Core transaction tables contain around 100K orders and 112K order-item records</a:t>
            </a:r>
          </a:p>
          <a:p>
            <a:pPr>
              <a:spcAft>
                <a:spcPts val="1000"/>
              </a:spcAft>
              <a:defRPr sz="1600">
                <a:solidFill>
                  <a:srgbClr val="233037"/>
                </a:solidFill>
                <a:latin typeface="Aptos"/>
              </a:defRPr>
            </a:pPr>
            <a:r>
              <a:t>• Used relationships and a star-schema-style model for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74720"/>
            <a:ext cx="4663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474720"/>
            <a:ext cx="73152" cy="1965960"/>
          </a:xfrm>
          <a:prstGeom prst="rect">
            <a:avLst/>
          </a:prstGeom>
          <a:solidFill>
            <a:srgbClr val="703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639312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Main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041648"/>
            <a:ext cx="4297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Orders • Order Items • Payments • Reviews</a:t>
            </a:r>
            <a:br/>
            <a:r>
              <a:t>Customers • Products • Sellers</a:t>
            </a:r>
            <a:br/>
            <a:r>
              <a:t>Geolocation • Category Translation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051560"/>
            <a:ext cx="6080760" cy="4480560"/>
          </a:xfrm>
          <a:prstGeom prst="rect">
            <a:avLst/>
          </a:prstGeom>
          <a:noFill/>
          <a:ln w="1270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95C"/>
                </a:solidFill>
                <a:latin typeface="Aptos"/>
              </a:defRPr>
            </a:pPr>
            <a:r>
              <a:t>Dataset Source: Kaggle — Brazilian E-Commerce Public Dataset by Olist</a:t>
            </a:r>
          </a:p>
        </p:txBody>
      </p:sp>
      <p:pic>
        <p:nvPicPr>
          <p:cNvPr id="17" name="Picture 16" descr="Screenshot 2026-10-07 232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35938"/>
            <a:ext cx="6080760" cy="311180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532120" y="1051560"/>
            <a:ext cx="6080760" cy="4480560"/>
          </a:xfrm>
          <a:prstGeom prst="rect">
            <a:avLst/>
          </a:prstGeom>
          <a:noFill/>
          <a:ln w="1270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5623560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70"/>
                </a:solidFill>
                <a:latin typeface="Aptos"/>
              </a:defRPr>
            </a:pPr>
            <a:r>
              <a:t>Sample records from the Orders table in the Olist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What the dashboard should answer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143000"/>
            <a:ext cx="566928" cy="566928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52728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1615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37"/>
                </a:solidFill>
                <a:latin typeface="Aptos"/>
              </a:defRPr>
            </a:pPr>
            <a:r>
              <a:t>Measure overall sales and order 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7627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37"/>
                </a:solidFill>
                <a:latin typeface="Aptos"/>
              </a:defRPr>
            </a:pPr>
            <a:r>
              <a:t>Understand customer and regional sales patterns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063240"/>
            <a:ext cx="566928" cy="566928"/>
          </a:xfrm>
          <a:prstGeom prst="ellipse">
            <a:avLst/>
          </a:prstGeom>
          <a:solidFill>
            <a:srgbClr val="703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172968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3639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37"/>
                </a:solidFill>
                <a:latin typeface="Aptos"/>
              </a:defRPr>
            </a:pPr>
            <a:r>
              <a:t>Analyze product-category and payment behavior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33088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9651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37"/>
                </a:solidFill>
                <a:latin typeface="Aptos"/>
              </a:defRPr>
            </a:pPr>
            <a:r>
              <a:t>Evaluate delivery time and late-delivery 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8348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093208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0566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37"/>
                </a:solidFill>
                <a:latin typeface="Aptos"/>
              </a:defRPr>
            </a:pPr>
            <a:r>
              <a:t>Build an interactive dashboard for decision-making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Data Preparation &amp;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Power Query + DAX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73152" cy="18288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64207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• Corrected data types</a:t>
            </a:r>
            <a:br/>
            <a:r>
              <a:t>• Standardized date fields</a:t>
            </a:r>
            <a:br/>
            <a:r>
              <a:t>• Cleaned category values</a:t>
            </a:r>
            <a:br/>
            <a:r>
              <a:t>• Removed unnecessary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731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• Related Orders, Customers, Products, Sellers</a:t>
            </a:r>
            <a:br/>
            <a:r>
              <a:t>• Connected Payments and Reviews</a:t>
            </a:r>
            <a:br/>
            <a:r>
              <a:t>• Kept supporting tables separate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097280"/>
            <a:ext cx="73152" cy="1828800"/>
          </a:xfrm>
          <a:prstGeom prst="rect">
            <a:avLst/>
          </a:prstGeom>
          <a:solidFill>
            <a:srgbClr val="703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DAX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664207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• Total Sales</a:t>
            </a:r>
            <a:br/>
            <a:r>
              <a:t>• Total Orders</a:t>
            </a:r>
            <a:br/>
            <a:r>
              <a:t>• Average Order Value</a:t>
            </a:r>
            <a:br/>
            <a:r>
              <a:t>• Delivery &amp; review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4903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Customers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Customer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65760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62072" y="374903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Orders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Order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65760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374903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Order Items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Order ID / Product 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65760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374903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Products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Product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489204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2072" y="498347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Payments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Order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2040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4983479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842"/>
                </a:solidFill>
                <a:latin typeface="Aptos"/>
              </a:defRPr>
            </a:pPr>
            <a:r>
              <a:t>Reviews</a:t>
            </a:r>
          </a:p>
          <a:p>
            <a:pPr algn="ctr">
              <a:defRPr sz="800">
                <a:solidFill>
                  <a:srgbClr val="5A6970"/>
                </a:solidFill>
                <a:latin typeface="Aptos"/>
              </a:defRPr>
            </a:pPr>
            <a:r>
              <a:t>Order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005072"/>
            <a:ext cx="274319" cy="18288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4005072"/>
            <a:ext cx="411480" cy="18288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4005072"/>
            <a:ext cx="640079" cy="18288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4343400"/>
            <a:ext cx="18288" cy="18288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4343400"/>
            <a:ext cx="18288" cy="18288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Dashboard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3 focused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01 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High-level KPIs, monthly sales, categories, order status and payments.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74920"/>
            <a:ext cx="338328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Interactive Power BI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417320"/>
            <a:ext cx="73152" cy="338328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02  Sales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9842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Sales trends, product categories, customer states, AOV and payment 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5074920"/>
            <a:ext cx="3383280" cy="50292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51663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Interactive Power BI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0183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3" y="1417320"/>
            <a:ext cx="73152" cy="3383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03  Delivery &amp;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19842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Delivery days, late delivery, freight and state-level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0183" y="5074920"/>
            <a:ext cx="338328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51663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Interactive Power BI page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Key Insights —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Executive &amp; Sales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965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Overall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Total Sales: €13.59M</a:t>
            </a:r>
            <a:br/>
            <a:r>
              <a:t>Total Orders: 99K</a:t>
            </a:r>
            <a:br/>
            <a:r>
              <a:t>Unique Customers: 96K</a:t>
            </a:r>
            <a:br/>
            <a:r>
              <a:t>Average Order Value: €136.68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965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Sales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09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Sales increase strongly from the early months and peak around May.</a:t>
            </a:r>
            <a:br/>
            <a:r>
              <a:t>A sharp decline appears in September.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1965960"/>
          </a:xfrm>
          <a:prstGeom prst="rect">
            <a:avLst/>
          </a:prstGeom>
          <a:solidFill>
            <a:srgbClr val="703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Top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09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Health &amp; Beauty and Watches &amp; Gifts are among the strongest sales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29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429000"/>
            <a:ext cx="73152" cy="196596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593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95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São Paulo (SP) contributes the largest share of state-level sales.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429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42900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593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95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Credit card is the dominant payment type by payment value.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290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29000"/>
            <a:ext cx="73152" cy="1965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93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Customer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9592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Average review score is 4.09, indicating generally positive customer feedback.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Key Insights — Delivery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Operational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2011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Average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Delivery time varies by month, with the highest observed monthly average around 16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201168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On-Time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0992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Around 89K orders were delivered on time in the dashboard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20116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07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Late Deliveries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0992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About 8K delivered orders were identified as 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393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Late Delivery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04164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The dashboard shows a late-delivery rate of about 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47472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73152" cy="2011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6393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Freight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04164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Freight value changes across months and should be monitored alongside sales.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7472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74720"/>
            <a:ext cx="73152" cy="2011680"/>
          </a:xfrm>
          <a:prstGeom prst="rect">
            <a:avLst/>
          </a:prstGeom>
          <a:solidFill>
            <a:srgbClr val="703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6393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Regional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41648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Average delivery time differs across customer states, highlighting regional logistics variation.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Dashboard —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Page 1</a:t>
            </a:r>
          </a:p>
        </p:txBody>
      </p:sp>
      <p:pic>
        <p:nvPicPr>
          <p:cNvPr id="6" name="Picture 5" descr="Screenshot 2026-10-07 201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01" y="960120"/>
            <a:ext cx="9481238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960120"/>
            <a:ext cx="11018520" cy="5349240"/>
          </a:xfrm>
          <a:prstGeom prst="rect">
            <a:avLst/>
          </a:prstGeom>
          <a:noFill/>
          <a:ln w="1270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Dashboard — Sales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Page 2</a:t>
            </a:r>
          </a:p>
        </p:txBody>
      </p:sp>
      <p:pic>
        <p:nvPicPr>
          <p:cNvPr id="6" name="Picture 5" descr="Screenshot 2026-10-07 201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960120"/>
            <a:ext cx="950976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960120"/>
            <a:ext cx="11018520" cy="5349240"/>
          </a:xfrm>
          <a:prstGeom prst="rect">
            <a:avLst/>
          </a:prstGeom>
          <a:noFill/>
          <a:ln w="1270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Dashboard — Delivery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Page 3</a:t>
            </a:r>
          </a:p>
        </p:txBody>
      </p:sp>
      <p:pic>
        <p:nvPicPr>
          <p:cNvPr id="6" name="Picture 5" descr="Screenshot 2026-10-07 201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26" y="960120"/>
            <a:ext cx="9490587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960120"/>
            <a:ext cx="11018520" cy="5349240"/>
          </a:xfrm>
          <a:prstGeom prst="rect">
            <a:avLst/>
          </a:prstGeom>
          <a:noFill/>
          <a:ln w="1270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35661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What the project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493775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• Converted multiple Olist CSV tables into an interactive Power BI model</a:t>
            </a:r>
            <a:br/>
            <a:br/>
            <a:r>
              <a:t>• Created DAX measures for sales, customers, orders, reviews and delivery</a:t>
            </a:r>
            <a:br/>
            <a:br/>
            <a:r>
              <a:t>• Built focused dashboards for executive, sales and operational analysis</a:t>
            </a:r>
            <a:br/>
            <a:br/>
            <a:r>
              <a:t>• Identified useful patterns in sales, payments, customer regions and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3566160"/>
          </a:xfrm>
          <a:prstGeom prst="rect">
            <a:avLst/>
          </a:prstGeom>
          <a:solidFill>
            <a:srgbClr val="3E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99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4842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801368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3037"/>
                </a:solidFill>
                <a:latin typeface="Aptos"/>
              </a:defRPr>
            </a:pPr>
            <a:r>
              <a:t>• Faster performance monitoring</a:t>
            </a:r>
            <a:br/>
            <a:br/>
            <a:r>
              <a:t>• Easier comparison across categories and states</a:t>
            </a:r>
            <a:br/>
            <a:br/>
            <a:r>
              <a:t>• Clear visibility into delivery issues</a:t>
            </a:r>
            <a:br/>
            <a:br/>
            <a:r>
              <a:t>• Supports data-driven e-commerce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92024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BE8"/>
                </a:solidFill>
                <a:latin typeface="Aptos"/>
              </a:defRPr>
            </a:pPr>
            <a:r>
              <a:t>Possible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Add sales forecasting using historical trends</a:t>
            </a:r>
          </a:p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Develop customer segmentation and retention analysis</a:t>
            </a:r>
          </a:p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Build product-level profitability and seller performance metrics</a:t>
            </a:r>
          </a:p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Add predictive late-delivery risk analysis</a:t>
            </a:r>
          </a:p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Publish to Power BI Service with scheduled refresh</a:t>
            </a:r>
          </a:p>
          <a:p>
            <a:pPr>
              <a:spcAft>
                <a:spcPts val="1000"/>
              </a:spcAft>
              <a:defRPr sz="1900">
                <a:solidFill>
                  <a:srgbClr val="233037"/>
                </a:solidFill>
                <a:latin typeface="Aptos"/>
              </a:defRPr>
            </a:pPr>
            <a:r>
              <a:t>• Create role-based access and mobile-friendly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E0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BEE1D8"/>
                </a:solidFill>
                <a:latin typeface="Aptos"/>
              </a:defRPr>
            </a:pPr>
            <a:r>
              <a:t>E-Commerce Sales &amp; Operations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EB482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